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4E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§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TaxHub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2487168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C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AI-native operating hub for German tax practices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054096"/>
            <a:ext cx="1371600" cy="27432"/>
          </a:xfrm>
          <a:prstGeom prst="rect">
            <a:avLst/>
          </a:prstGeom>
          <a:solidFill>
            <a:srgbClr val="5B8FB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55264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memo · build · 30-day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4430268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Satyam Purohit  ·  CITO — Founders’ Associate / EIR case, round 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obvious version of this thesis is wrong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8010144" cy="786384"/>
          </a:xfrm>
          <a:prstGeom prst="roundRect">
            <a:avLst>
              <a:gd name="adj" fmla="val 6977"/>
            </a:avLst>
          </a:prstGeom>
          <a:solidFill>
            <a:srgbClr val="FCECEA"/>
          </a:solidFill>
          <a:ln w="9525">
            <a:solidFill>
              <a:srgbClr val="E7C3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17320"/>
            <a:ext cx="7607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standard pitch:  </a:t>
            </a:r>
            <a:pPr indent="0" marL="0">
              <a:buNone/>
            </a:pPr>
            <a:r>
              <a:rPr lang="en-US" sz="1350" b="1" i="1" dirty="0">
                <a:solidFill>
                  <a:srgbClr val="9B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“90,000 Steuerberater, fragmented, under-digitised, still on paper — bring AI.”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2304288"/>
            <a:ext cx="80101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of that is wrong — and it is the half that kills companies.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 tax practices are among the most software-saturated small businesses in the country.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DATEV is a ~€1.4bn cooperative — owned by the Steuerberater themselves — running bookkeeping, payroll, filing and the tax-office interface.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Telling a DATEV member they need to “digitise” says their own cooperative failed them. It lands badly, and it is not true.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CONSTRAINT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are capacity-constrained, not software-constrained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243584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Practices turn away profitable mandates because they cannot hire — and the partner generation is retiring faster than it is replaced.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2548128" cy="1737360"/>
          </a:xfrm>
          <a:prstGeom prst="roundRect">
            <a:avLst>
              <a:gd name="adj" fmla="val 3158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56816"/>
            <a:ext cx="2218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LABOUR SCARCITY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139696"/>
            <a:ext cx="2218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hire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2523744"/>
            <a:ext cx="22189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Steuerfachangestellte are among the hardest roles in the Mittelstand to fill. Salary inflation has outrun what the StBVV comfortably supports.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7936" y="1828800"/>
            <a:ext cx="2548128" cy="1737360"/>
          </a:xfrm>
          <a:prstGeom prst="roundRect">
            <a:avLst>
              <a:gd name="adj" fmla="val 3158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2528" y="1956816"/>
            <a:ext cx="2218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SUCCESSION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62528" y="2139696"/>
            <a:ext cx="2218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Ageing out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462528" y="2523744"/>
            <a:ext cx="22189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large share of practices have no identified successor. Efficiency-per-head becomes existential, not a nice-to-have.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8944" y="1828800"/>
            <a:ext cx="2548128" cy="1737360"/>
          </a:xfrm>
          <a:prstGeom prst="roundRect">
            <a:avLst>
              <a:gd name="adj" fmla="val 3158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3536" y="1956816"/>
            <a:ext cx="2218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COMPLIANCE CALENDAR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93536" y="2139696"/>
            <a:ext cx="2218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Forced demand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193536" y="2523744"/>
            <a:ext cx="22189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E-invoicing (§14 UStG, phased to 2028) and continuous statutory change create mandatory, deadline-bound work.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712464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is not the problem. Throughput 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reframe is the whole business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867912" cy="1371600"/>
          </a:xfrm>
          <a:prstGeom prst="roundRect">
            <a:avLst>
              <a:gd name="adj" fmla="val 4000"/>
            </a:avLst>
          </a:prstGeom>
          <a:solidFill>
            <a:srgbClr val="FCECEA"/>
          </a:solidFill>
          <a:ln w="9525">
            <a:solidFill>
              <a:srgbClr val="E7C3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17904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problem is software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810512"/>
            <a:ext cx="3502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compete with DATEV’s roadmap, on DATEV’s turf, priced against a €50 seat licence.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lose.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867912" cy="1371600"/>
          </a:xfrm>
          <a:prstGeom prst="roundRect">
            <a:avLst>
              <a:gd name="adj" fmla="val 4000"/>
            </a:avLst>
          </a:prstGeom>
          <a:solidFill>
            <a:srgbClr val="E8F4EE"/>
          </a:solidFill>
          <a:ln w="9525">
            <a:solidFill>
              <a:srgbClr val="BBD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17904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problem is capacity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810512"/>
            <a:ext cx="3502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competitor is a €45–60k/year assistant they cannot find.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priced against a salary.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926080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software. Different anchor.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18688"/>
          <a:ext cx="8010144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377440"/>
                <a:gridCol w="206654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Positioning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Anchor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Realistic ACV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“An AI tool”, per seat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DATEV module, ~€50/user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B2C2C"/>
                          </a:solidFill>
                        </a:rPr>
                        <a:t>€600 / year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Capacity — an assistant that does not quit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Salary, €45–60k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6B45"/>
                          </a:solidFill>
                        </a:rPr>
                        <a:t>€18,000 / year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BEACHHEAD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TaxHub, and not CraftHub or LogHub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8010144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423160"/>
                <a:gridCol w="1965960"/>
                <a:gridCol w="174650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TaxHub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CraftHub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LogHub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Businesses (DE)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~90k pros, 50–55k practices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&gt;1m Handwerk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Niche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Willingness to pay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6B45"/>
                          </a:solidFill>
                        </a:rPr>
                        <a:t>High — bills €150–250/h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Existing budget line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6B45"/>
                          </a:solidFill>
                        </a:rPr>
                        <a:t>Yes — DATEV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Often none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Fragmented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Competitive density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Moderate; incumbent slow by construction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B2C2C"/>
                          </a:solidFill>
                        </a:rPr>
                        <a:t>Crowded — Plancraft, ToolTime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Thin but small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Regulatory moat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6B45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Value of knowledge layer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6B45"/>
                          </a:solidFill>
                        </a:rPr>
                        <a:t>Very high — law changes constantly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Realistic ACV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€12–30k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€1–3k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€5–15k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1148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CraftHub wins on logo count and loses on everything that compounds. And a practice that adopts TaxHub becomes a distribution channel into its 200–800 mandates.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barbell — and the tail is the prize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80101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tail — ~40–45k owner-run practices, 1–3 professionals, 3–15 staff. Buy fast, decide alone. This is the ICP.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Consolidating middle — PE-backed roll-ups. Slower, but one win lands 10–40 sites. Year-two motion.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end — Big Four and large partnerships build in-house. Not our market.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670048"/>
            <a:ext cx="1899666" cy="1051560"/>
          </a:xfrm>
          <a:prstGeom prst="roundRect">
            <a:avLst>
              <a:gd name="adj" fmla="val 5217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98064"/>
            <a:ext cx="157048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ADDRESSABLE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980944"/>
            <a:ext cx="15704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3364992"/>
            <a:ext cx="157048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practices, 3–20 staff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3754" y="2670048"/>
            <a:ext cx="1899666" cy="1051560"/>
          </a:xfrm>
          <a:prstGeom prst="roundRect">
            <a:avLst>
              <a:gd name="adj" fmla="val 5217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8346" y="2798064"/>
            <a:ext cx="157048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ACV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68346" y="2980944"/>
            <a:ext cx="15704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€18k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768346" y="3364992"/>
            <a:ext cx="157048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€1,500 / month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0580" y="2670048"/>
            <a:ext cx="1899666" cy="1051560"/>
          </a:xfrm>
          <a:prstGeom prst="roundRect">
            <a:avLst>
              <a:gd name="adj" fmla="val 5217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5172" y="2798064"/>
            <a:ext cx="157048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— GERMANY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5172" y="2980944"/>
            <a:ext cx="15704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€540m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805172" y="3364992"/>
            <a:ext cx="157048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year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7406" y="2670048"/>
            <a:ext cx="1899666" cy="1051560"/>
          </a:xfrm>
          <a:prstGeom prst="roundRect">
            <a:avLst>
              <a:gd name="adj" fmla="val 5217"/>
            </a:avLst>
          </a:prstGeom>
          <a:solidFill>
            <a:srgbClr val="E8F4EE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1998" y="2798064"/>
            <a:ext cx="157048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 IN 5 YEARS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41998" y="2980944"/>
            <a:ext cx="15704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6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€27m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41998" y="3364992"/>
            <a:ext cx="157048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ARR, DE 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3877056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Figures are directionally right but drawn from memory — they need a sourcing pass against BStBK Berufsstatistik and DATEV’s annual report before any commitment.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buyer, no committee, and three price anchors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8010144" cy="731520"/>
          </a:xfrm>
          <a:prstGeom prst="roundRect">
            <a:avLst>
              <a:gd name="adj" fmla="val 7500"/>
            </a:avLst>
          </a:prstGeom>
          <a:solidFill>
            <a:srgbClr val="EAF1F7"/>
          </a:solidFill>
          <a:ln w="9525">
            <a:solidFill>
              <a:srgbClr val="BCD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71600"/>
            <a:ext cx="7644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Owner-run practice · 1–3 professionals · 6–15 staff · €600k–1.5m revenue · 150–500 mandates · on DATEV · the owner decides, in one or two conversations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2157984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are actually priced against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50592"/>
          <a:ext cx="8010144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98094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Anchor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Assistant / Sekretariat FTE, fully loaded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€45–60k / year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Billable hour recovered (Zeitgebühr, § 13 StBVV)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€66–164 / hour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One mandate won from inbound that would have been missed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€2–5k / year, recurring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3913632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partner hours a week recovered covers a €1,500/month subscription roughly twice over — arithmetic this buyer does every day.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INCUMBENT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DATEV is not beatable head-on — and does not need to be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8010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Owned by its users. Cooperatives optimise for consensus and continuity — a feature for reliability, a hard constraint on shipping speed.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Bookkeeping-centric. Its centre of gravity is what happens after work enters the practice. The front office — phone, inbox, the unstructured request — is largely unowned.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Sells to the practice, not to the mandate. The client-facing surface is thin.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Serving every practice caps depth. A platform cannot ship an opinionated workflow for one segment as fast as a focused team.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200400"/>
            <a:ext cx="8010144" cy="1097280"/>
          </a:xfrm>
          <a:prstGeom prst="roundRect">
            <a:avLst>
              <a:gd name="adj" fmla="val 5000"/>
            </a:avLst>
          </a:prstGeom>
          <a:solidFill>
            <a:srgbClr val="FDF4E3"/>
          </a:solidFill>
          <a:ln w="9525">
            <a:solidFill>
              <a:srgbClr val="E4C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3310128"/>
            <a:ext cx="7607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honest counter-argument.  </a:t>
            </a:r>
            <a:pPr indent="0" marL="0">
              <a:buNone/>
            </a:pPr>
            <a:r>
              <a:rPr lang="en-US" sz="115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DATEV will ship AI — it already is. The answer is not that they fail, but that they ship horizontal, bookkeeping-adjacent AI. Assume DATEV integration becomes table stakes and design to be a good citizen on top of it, never a replacement. That is the one fight we cannot win.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POINT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jupus already proved the pattern next door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8010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jupus built the AI front desk — Telefon-KI, KI-Sekretariat, Dokumenten-KI — for law firms.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80101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shape of market: regulated, fragmented, owner-run, phone-driven, incumbent-software-saturated.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shows these professionals will let AI answer their phone.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that the front office is a viable entry point next to an entrenched incumbent.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8010144" cy="1005840"/>
          </a:xfrm>
          <a:prstGeom prst="roundRect">
            <a:avLst>
              <a:gd name="adj" fmla="val 5455"/>
            </a:avLst>
          </a:prstGeom>
          <a:solidFill>
            <a:srgbClr val="E8F4EE"/>
          </a:solidFill>
          <a:ln w="9525">
            <a:solidFill>
              <a:srgbClr val="BB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127248"/>
            <a:ext cx="7607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TaxHub is that pattern aimed at a market with better economics — and a far more valuable knowledge layer, because tax law changes continuously while a legal template library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 on intake. Expand into knowledge. Deepen into workflow.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2548128" cy="2286000"/>
          </a:xfrm>
          <a:prstGeom prst="roundRect">
            <a:avLst>
              <a:gd name="adj" fmla="val 2400"/>
            </a:avLst>
          </a:prstGeom>
          <a:solidFill>
            <a:srgbClr val="EAF1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26464"/>
            <a:ext cx="2218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 — INTAKE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218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wedge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" y="1993392"/>
            <a:ext cx="22189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integration required — it sits in front of the systems. No DATEV connector, no procurement, live in days.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is countable: missed calls, response latency, mandates won.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Quietly becomes the system of record for demand.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7936" y="1298448"/>
            <a:ext cx="2548128" cy="2286000"/>
          </a:xfrm>
          <a:prstGeom prst="roundRect">
            <a:avLst>
              <a:gd name="adj" fmla="val 2400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2528" y="1426464"/>
            <a:ext cx="2218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— KNOWLEDGE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62528" y="1609344"/>
            <a:ext cx="2218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moat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462528" y="1993392"/>
            <a:ext cx="22189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defensible, but a harder first sale: diffuse value, competes with “just ask the partner”, and needs the firm’s own documents.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it second, into an account that already trusts us.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8944" y="1298448"/>
            <a:ext cx="2548128" cy="2286000"/>
          </a:xfrm>
          <a:prstGeom prst="roundRect">
            <a:avLst>
              <a:gd name="adj" fmla="val 2400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3536" y="1426464"/>
            <a:ext cx="2218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DEEPEN — WORKFLOW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93536" y="1609344"/>
            <a:ext cx="2218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lock-in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93536" y="1993392"/>
            <a:ext cx="22189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a captured request through to a first useful output, and eventually into DATEV.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contract grows and switching becomes painful.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785616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is the moat, not the wedge. Leading with it means asking for trust we have not yet earned.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MOAT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Assume generation is free in 24 months. What survives?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8010144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834640"/>
                <a:gridCol w="480974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Asset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Why it survives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Firm-private corpus + correction history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Not the documents — the accumulated corrections. No competitor and no foundation model has them.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System of record for intake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Ripping us out loses the client-communication history. Nobody changes their CRM.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Vertical lexicon + eval set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Mapping practitioner language to statute language. Only a tax person can write it; generalists skip it.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Regulatory &amp; trust surface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Berufsrecht, DSGVO, EU hosting, auditable citations. Bars horizontal entrants.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Distribution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Kammern, Verbände, DATEV-Systempartner. A head start, not a moat.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803904"/>
            <a:ext cx="8010144" cy="566928"/>
          </a:xfrm>
          <a:prstGeom prst="roundRect">
            <a:avLst>
              <a:gd name="adj" fmla="val 9677"/>
            </a:avLst>
          </a:prstGeom>
          <a:solidFill>
            <a:srgbClr val="FCECEA"/>
          </a:solidFill>
          <a:ln w="9525">
            <a:solidFill>
              <a:srgbClr val="E7C3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877056"/>
            <a:ext cx="7607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moat:  </a:t>
            </a:r>
            <a:pPr indent="0" marL="0">
              <a:buNone/>
            </a:pPr>
            <a:r>
              <a:rPr lang="en-US" sz="115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RAG pipeline, the prompts, the model choice, the UI. All replicable in a quarter — we should stop confusing effort with defensibility.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Per-practice subscription, tiered by size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801014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097280"/>
                <a:gridCol w="407822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Practice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€ / month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Contents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Front Desk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1–3 staff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490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Intake, call/email capture, qualification, booking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Practice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4–15 staff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1,490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+ knowledge layer, firm corpus, drafting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Partner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15+ / multi-site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2,900+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+ workflow, DATEV integration, multi-site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2962656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a €2–4k onboarding fee — it qualifies the buyer and funds implementation.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6928" y="3310128"/>
            <a:ext cx="2578608" cy="1005840"/>
          </a:xfrm>
          <a:prstGeom prst="roundRect">
            <a:avLst>
              <a:gd name="adj" fmla="val 5455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438144"/>
            <a:ext cx="2249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BLENDED ACV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" y="3621024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€18k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282696" y="3310128"/>
            <a:ext cx="2578608" cy="1005840"/>
          </a:xfrm>
          <a:prstGeom prst="roundRect">
            <a:avLst>
              <a:gd name="adj" fmla="val 5455"/>
            </a:avLst>
          </a:prstGeom>
          <a:solidFill>
            <a:srgbClr val="E8F4EE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47288" y="3438144"/>
            <a:ext cx="2249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447288" y="3621024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6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78–80%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998464" y="3310128"/>
            <a:ext cx="2578608" cy="1005840"/>
          </a:xfrm>
          <a:prstGeom prst="roundRect">
            <a:avLst>
              <a:gd name="adj" fmla="val 5455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63056" y="3438144"/>
            <a:ext cx="2249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COGS / MONTH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63056" y="3621024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~€300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163056" y="4005072"/>
            <a:ext cx="224942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~90% of it voice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Payback under a year — but CAC is not the binding constraint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4485681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80744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Blended CAC (founder-led + channel, year 1)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€6–9k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Gross profit per account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~€14.4k / year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Payback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6B45"/>
                          </a:solidFill>
                        </a:rPr>
                        <a:t>~6–8 months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Expected life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5+ years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NRR target (seats + modules)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515A"/>
                          </a:solidFill>
                        </a:rPr>
                        <a:t>110–120%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LTV / CAC at steady state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6B45"/>
                          </a:solidFill>
                        </a:rPr>
                        <a:t>&gt; 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73014" y="1280160"/>
            <a:ext cx="3204058" cy="2048256"/>
          </a:xfrm>
          <a:prstGeom prst="roundRect">
            <a:avLst>
              <a:gd name="adj" fmla="val 2679"/>
            </a:avLst>
          </a:prstGeom>
          <a:solidFill>
            <a:srgbClr val="FDF4E3"/>
          </a:solidFill>
          <a:ln w="9525">
            <a:solidFill>
              <a:srgbClr val="E4C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37606" y="1408176"/>
            <a:ext cx="2874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number that decides the company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37606" y="1700784"/>
            <a:ext cx="287487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CAC — sales cycle × reachability.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Conservative buyers, no procurement function, a profession that trusts peers over vendors. Cold outbound will underperform.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plan must run through Kammern, Verbände and DATEV-Systempartner, with a two-week pilot on one metric.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3712464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sanity check:  ~40 practices year 1 (~€700k ARR)  →  ~200 year 2 with channel (~€3.6m)  →  ~600 year 3 (~€11m)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would kill this, and what we do about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801014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66928"/>
                <a:gridCol w="479145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DATEV ships an equivalent front office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B2C2C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Be a good citizen on top, not a replacement. Win the front office before they turn to it.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Sales cycle slower than modelled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B2C2C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Channel-first via Kammer/Verband. Two-week pilot, one metric. Explicit kill criterion.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Liability from a wrong answer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B2C2C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Grounded-or-silent by construction. Deadlines in deterministic code. Staff support, never client advice.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German voice quality on real calls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5A1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Voice is the wedge — it must be excellent. Pilot on the target region’s actual dialects.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Knowledge layer commoditises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5A1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Moat is the firm-private corpus and corrections, not the public statutes.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Priced as a seat tool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5A12"/>
                          </a:solidFill>
                        </a:rPr>
                        <a:t>Med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Positioning discipline. Quote against a salary, every time.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— conditional on three things inside 90 days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243584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F6B4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435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21408" y="1243584"/>
            <a:ext cx="6455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TaxHub. Lead with intake. Price against headcount, not seats.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56816"/>
          <a:ext cx="8010144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435254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Condition — 90 days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Why it is the test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One Kammer, Verband or DATEV-Systempartner willing to co-market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Without a channel the CAC model does not hold — this flips to no-go.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Ten paying practices at ≥ €1,000/month — signed, not LOIs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Tests the pricing thesis the whole memo rests on. At €300 this is a features business.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4E7A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C"/>
                          </a:solidFill>
                        </a:rPr>
                        <a:t>A voice demo a Steuerberater accepts on their own line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15A"/>
                          </a:solidFill>
                        </a:rPr>
                        <a:t>The wedge is the phone. If voice is not convincing, invert the sequencing.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3913632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2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 criteria at 6 months:  median sales cycle &gt; 5 months with channel support  ·  pilot-to-paid &lt; 30%  ·  DATEV ships an equivalent with real adoption before we reach 100 accounts.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010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slice, not a mockup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8010144" cy="18288"/>
          </a:xfrm>
          <a:prstGeom prst="rect">
            <a:avLst/>
          </a:prstGeom>
          <a:solidFill>
            <a:srgbClr val="DF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11312" y="47411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4,446 paragraph-level chunks · 9 German tax statutes · ingested unmodified from gesetze-im-internet.de · current to 2 July 2026 · static, no backend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2578608" cy="1737360"/>
          </a:xfrm>
          <a:prstGeom prst="roundRect">
            <a:avLst>
              <a:gd name="adj" fmla="val 3158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47088"/>
            <a:ext cx="2249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VERIFIABLE, NOT DECORATIVE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029968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2414016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citation resolves to a real chunk and expands to the statute text. The build fails if one cannot be resolved.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82696" y="1719072"/>
            <a:ext cx="2578608" cy="1737360"/>
          </a:xfrm>
          <a:prstGeom prst="roundRect">
            <a:avLst>
              <a:gd name="adj" fmla="val 3158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847088"/>
            <a:ext cx="2249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DEMO ARGUMENT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47288" y="2029968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Currency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447288" y="2414016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Kleinunternehmer: 25.000 / 100.000 €, not the superseded 22.000 / 50.000.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Retention: 8 years, not 10.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assistants get both wrong.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98464" y="1719072"/>
            <a:ext cx="2578608" cy="1737360"/>
          </a:xfrm>
          <a:prstGeom prst="roundRect">
            <a:avLst>
              <a:gd name="adj" fmla="val 3158"/>
            </a:avLst>
          </a:prstGeom>
          <a:solidFill>
            <a:srgbClr val="FAF9F7"/>
          </a:solidFill>
          <a:ln w="9525">
            <a:solidFill>
              <a:srgbClr val="DFD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847088"/>
            <a:ext cx="22494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9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LIABILITY STAYS IN CODE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63056" y="2029968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4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Deadlines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163056" y="2414016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one-month Einspruchsfrist (§ 355 AO) is computed deterministically from a date buried in prose. The model reads and drafts; it does not decide.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602736"/>
            <a:ext cx="8010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B51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it also surfaced what a pitch deck cannot: “EÜR” folds to “euer”, a substring of “steuerberater”, so an urgent objection silently classified as routine filing and the deadline vanished. Caught by the test suite. Accumulating those fixes is the moat.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4E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8010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“digitise the Steuerberater”.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901952"/>
            <a:ext cx="8010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B2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already are.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615184"/>
            <a:ext cx="1371600" cy="27432"/>
          </a:xfrm>
          <a:prstGeom prst="rect">
            <a:avLst/>
          </a:prstGeom>
          <a:solidFill>
            <a:srgbClr val="5B8FB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816352"/>
            <a:ext cx="69128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DC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them the assistant they cannot hire, enter through the phone because it needs no integration, and let the knowledge layer become the thing they cannot leave.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CITO 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TaxHub — Investment Memo</dc:title>
  <dc:subject>PptxGenJS Presentation</dc:subject>
  <dc:creator>Satyam Purohit</dc:creator>
  <cp:lastModifiedBy>Satyam Purohit</cp:lastModifiedBy>
  <cp:revision>1</cp:revision>
  <dcterms:created xsi:type="dcterms:W3CDTF">2026-07-21T17:33:33Z</dcterms:created>
  <dcterms:modified xsi:type="dcterms:W3CDTF">2026-07-21T17:33:33Z</dcterms:modified>
</cp:coreProperties>
</file>